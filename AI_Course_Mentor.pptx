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C896"/>
                </a:solidFill>
              </a:defRPr>
            </a:pPr>
            <a:r>
              <a:t>AI Course Mentor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Agentic AI-Powered Academic Assistant for LPU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DCFF"/>
                </a:solidFill>
              </a:defRPr>
            </a:pPr>
            <a:r>
              <a:t>Groq + Llama 3.3 70B | ChromaDB | Streamlit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DCFF"/>
                </a:solidFill>
              </a:defRPr>
            </a:pPr>
            <a:r>
              <a:t>FDP Capstone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896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700" b="0">
                <a:solidFill>
                  <a:srgbClr val="FFFFFF"/>
                </a:solidFill>
              </a:defRPr>
            </a:pPr>
            <a:r>
              <a:t>  Multi-agent system for LPU faculty &amp; students</a:t>
            </a:r>
          </a:p>
          <a:p>
            <a:pPr>
              <a:spcBef>
                <a:spcPts val="400"/>
              </a:spcBef>
              <a:defRPr sz="1700" b="0">
                <a:solidFill>
                  <a:srgbClr val="FFFFFF"/>
                </a:solidFill>
              </a:defRPr>
            </a:pPr>
            <a:r>
              <a:t>  Answers academic queries from uploaded documents</a:t>
            </a:r>
          </a:p>
          <a:p>
            <a:pPr>
              <a:spcBef>
                <a:spcPts val="400"/>
              </a:spcBef>
              <a:defRPr sz="1700" b="0">
                <a:solidFill>
                  <a:srgbClr val="FFFFFF"/>
                </a:solidFill>
              </a:defRPr>
            </a:pPr>
            <a:r>
              <a:t>  Generates quizzes, assignments, summaries</a:t>
            </a:r>
          </a:p>
          <a:p>
            <a:pPr>
              <a:spcBef>
                <a:spcPts val="400"/>
              </a:spcBef>
              <a:defRPr sz="1700" b="0">
                <a:solidFill>
                  <a:srgbClr val="FFFFFF"/>
                </a:solidFill>
              </a:defRPr>
            </a:pPr>
            <a:r>
              <a:t>  Retrieves university policies with citations</a:t>
            </a:r>
          </a:p>
          <a:p>
            <a:pPr>
              <a:spcBef>
                <a:spcPts val="400"/>
              </a:spcBef>
              <a:defRPr sz="1700" b="0">
                <a:solidFill>
                  <a:srgbClr val="FFFFFF"/>
                </a:solidFill>
              </a:defRPr>
            </a:pPr>
            <a:r>
              <a:t>  Built with AntiGravity agent orchestration pattern</a:t>
            </a:r>
          </a:p>
          <a:p>
            <a:pPr>
              <a:spcBef>
                <a:spcPts val="400"/>
              </a:spcBef>
              <a:defRPr sz="1700" b="0">
                <a:solidFill>
                  <a:srgbClr val="FFFFFF"/>
                </a:solidFill>
              </a:defRPr>
            </a:pPr>
            <a:r>
              <a:t>  8 specialized agents collaborating via coordinator</a:t>
            </a:r>
          </a:p>
          <a:p>
            <a:pPr>
              <a:spcBef>
                <a:spcPts val="400"/>
              </a:spcBef>
              <a:defRPr sz="1700" b="0">
                <a:solidFill>
                  <a:srgbClr val="FFFFFF"/>
                </a:solidFill>
              </a:defRPr>
            </a:pPr>
            <a:r>
              <a:t>  RAG pipeline grounds all answers in real documents</a:t>
            </a:r>
          </a:p>
          <a:p>
            <a:pPr>
              <a:spcBef>
                <a:spcPts val="400"/>
              </a:spcBef>
              <a:defRPr sz="1700" b="0">
                <a:solidFill>
                  <a:srgbClr val="FFFFFF"/>
                </a:solidFill>
              </a:defRPr>
            </a:pPr>
            <a:r>
              <a:t>  Fast inference via Groq cloud (Llama 3.3 70B)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896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286000" cy="1097280"/>
          </a:xfrm>
          <a:prstGeom prst="round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1300" b="1">
                <a:solidFill>
                  <a:srgbClr val="0F3460"/>
                </a:solidFill>
              </a:defRPr>
            </a:pPr>
            <a:r>
              <a:t>Streamlit</a:t>
            </a:r>
            <a:br/>
            <a:r>
              <a:t>Frontend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371600"/>
            <a:ext cx="2286000" cy="1097280"/>
          </a:xfrm>
          <a:prstGeom prst="round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1300" b="1">
                <a:solidFill>
                  <a:srgbClr val="0F3460"/>
                </a:solidFill>
              </a:defRPr>
            </a:pPr>
            <a:r>
              <a:t>Coordinator</a:t>
            </a:r>
            <a:br/>
            <a:r>
              <a:t>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371600"/>
            <a:ext cx="2286000" cy="1097280"/>
          </a:xfrm>
          <a:prstGeom prst="round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1300" b="1">
                <a:solidFill>
                  <a:srgbClr val="0F3460"/>
                </a:solidFill>
              </a:defRPr>
            </a:pPr>
            <a:r>
              <a:t>Specialized</a:t>
            </a:r>
            <a:br/>
            <a:r>
              <a:t>Agents x7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371600"/>
            <a:ext cx="1828800" cy="1097280"/>
          </a:xfrm>
          <a:prstGeom prst="round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1300" b="1">
                <a:solidFill>
                  <a:srgbClr val="0F3460"/>
                </a:solidFill>
              </a:defRPr>
            </a:pPr>
            <a:r>
              <a:t>Groq API</a:t>
            </a:r>
            <a:br/>
            <a:r>
              <a:t>Llama 3.3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2286000" cy="1097280"/>
          </a:xfrm>
          <a:prstGeom prst="round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1300" b="1">
                <a:solidFill>
                  <a:srgbClr val="0F3460"/>
                </a:solidFill>
              </a:defRPr>
            </a:pPr>
            <a:r>
              <a:t>Document</a:t>
            </a:r>
            <a:br/>
            <a:r>
              <a:t>Upload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3200400"/>
            <a:ext cx="2286000" cy="1097280"/>
          </a:xfrm>
          <a:prstGeom prst="round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1300" b="1">
                <a:solidFill>
                  <a:srgbClr val="0F3460"/>
                </a:solidFill>
              </a:defRPr>
            </a:pPr>
            <a:r>
              <a:t>ChromaDB</a:t>
            </a:r>
            <a:br/>
            <a:r>
              <a:t>Vector Store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3200400"/>
            <a:ext cx="2286000" cy="1097280"/>
          </a:xfrm>
          <a:prstGeom prst="round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1300" b="1">
                <a:solidFill>
                  <a:srgbClr val="0F3460"/>
                </a:solidFill>
              </a:defRPr>
            </a:pPr>
            <a:r>
              <a:t>Sentence</a:t>
            </a:r>
            <a:br/>
            <a:r>
              <a:t>Transformers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0" y="3200400"/>
            <a:ext cx="1828800" cy="1097280"/>
          </a:xfrm>
          <a:prstGeom prst="round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1300" b="1">
                <a:solidFill>
                  <a:srgbClr val="0F3460"/>
                </a:solidFill>
              </a:defRPr>
            </a:pPr>
            <a:r>
              <a:t>Response</a:t>
            </a:r>
            <a:br/>
            <a:r>
              <a:t>+ Citations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User Query  -&gt;  Coordinator  -&gt;  Intent Classification  -&gt;  RAG Retrieval  -&gt;  Agent Response  -&gt;  Citations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896"/>
                </a:solidFill>
              </a:defRPr>
            </a:pPr>
            <a:r>
              <a:t>RAG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182880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C896"/>
                </a:solidFill>
              </a:defRPr>
            </a:pPr>
            <a:r>
              <a:t>1. Upload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PDF/DOCX/PPTX files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371600"/>
            <a:ext cx="2560320" cy="182880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C896"/>
                </a:solidFill>
              </a:defRPr>
            </a:pPr>
            <a:r>
              <a:t>2. Extract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PyPDF2 / python-docx / python-pptx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2560320" cy="182880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C896"/>
                </a:solidFill>
              </a:defRPr>
            </a:pPr>
            <a:r>
              <a:t>3. Chunk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Recursive text splitter (500 tokens)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5440" y="1371600"/>
            <a:ext cx="2560320" cy="182880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C896"/>
                </a:solidFill>
              </a:defRPr>
            </a:pPr>
            <a:r>
              <a:t>4. Embed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Sentence Transformers (MiniLM-L6)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657600"/>
            <a:ext cx="2560320" cy="182880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C896"/>
                </a:solidFill>
              </a:defRPr>
            </a:pPr>
            <a:r>
              <a:t>5. Index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ChromaDB cosine similarity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657600"/>
            <a:ext cx="2560320" cy="182880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C896"/>
                </a:solidFill>
              </a:defRPr>
            </a:pPr>
            <a:r>
              <a:t>6. Search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Top-K semantic retrieval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657600"/>
            <a:ext cx="2560320" cy="182880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C896"/>
                </a:solidFill>
              </a:defRPr>
            </a:pPr>
            <a:r>
              <a:t>7. Ground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LLM generates from retrieved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3657600"/>
            <a:ext cx="2560320" cy="182880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C896"/>
                </a:solidFill>
              </a:defRPr>
            </a:pPr>
            <a:r>
              <a:t>8. Cite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Source + page number citations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896"/>
                </a:solidFill>
              </a:defRPr>
            </a:pPr>
            <a:r>
              <a:t>8 Specialized Agents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560320" cy="20116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C896"/>
                </a:solidFill>
              </a:defRPr>
            </a:pPr>
            <a:r>
              <a:t>Coordinator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Intent classification</a:t>
            </a:r>
            <a:br/>
            <a:r>
              <a:t>delegation, merging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188720"/>
            <a:ext cx="2560320" cy="20116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C896"/>
                </a:solidFill>
              </a:defRPr>
            </a:pPr>
            <a:r>
              <a:t>RAG Agent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Document search</a:t>
            </a:r>
            <a:br/>
            <a:r>
              <a:t>semantic retrieval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188720"/>
            <a:ext cx="2560320" cy="20116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C896"/>
                </a:solidFill>
              </a:defRPr>
            </a:pPr>
            <a:r>
              <a:t>Course Mentor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Concept explanation</a:t>
            </a:r>
            <a:br/>
            <a:r>
              <a:t>with examples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5440" y="1188720"/>
            <a:ext cx="2560320" cy="20116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C896"/>
                </a:solidFill>
              </a:defRPr>
            </a:pPr>
            <a:r>
              <a:t>Quiz Generator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MCQ, TF, FIB</a:t>
            </a:r>
            <a:br/>
            <a:r>
              <a:t>Bloom questions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749039"/>
            <a:ext cx="2560320" cy="20116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C896"/>
                </a:solidFill>
              </a:defRPr>
            </a:pPr>
            <a:r>
              <a:t>Assignment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Theory, lab, coding</a:t>
            </a:r>
            <a:br/>
            <a:r>
              <a:t>rubrics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749039"/>
            <a:ext cx="2560320" cy="20116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C896"/>
                </a:solidFill>
              </a:defRPr>
            </a:pPr>
            <a:r>
              <a:t>Summarizer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Chapter summary</a:t>
            </a:r>
            <a:br/>
            <a:r>
              <a:t>flashcards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749039"/>
            <a:ext cx="2560320" cy="20116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C896"/>
                </a:solidFill>
              </a:defRPr>
            </a:pPr>
            <a:r>
              <a:t>Policy Agent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University rules</a:t>
            </a:r>
            <a:br/>
            <a:r>
              <a:t>citations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3749039"/>
            <a:ext cx="2560320" cy="20116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C896"/>
                </a:solidFill>
              </a:defRPr>
            </a:pPr>
            <a:r>
              <a:t>Faculty Assist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Lesson plans</a:t>
            </a:r>
            <a:br/>
            <a:r>
              <a:t>CO mapping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896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700" b="1">
                <a:solidFill>
                  <a:srgbClr val="FFFFFF"/>
                </a:solidFill>
              </a:defRPr>
            </a:pPr>
            <a:r>
              <a:t>LLM:  Llama 3.3 70B Versatile (Groq API)</a:t>
            </a:r>
          </a:p>
          <a:p>
            <a:pPr>
              <a:spcBef>
                <a:spcPts val="400"/>
              </a:spcBef>
              <a:defRPr sz="1700" b="1">
                <a:solidFill>
                  <a:srgbClr val="FFFFFF"/>
                </a:solidFill>
              </a:defRPr>
            </a:pPr>
            <a:r>
              <a:t>Embeddings:  all-MiniLM-L6-v2 (Sentence Transformers)</a:t>
            </a:r>
          </a:p>
          <a:p>
            <a:pPr>
              <a:spcBef>
                <a:spcPts val="400"/>
              </a:spcBef>
              <a:defRPr sz="1700" b="1">
                <a:solidFill>
                  <a:srgbClr val="FFFFFF"/>
                </a:solidFill>
              </a:defRPr>
            </a:pPr>
            <a:r>
              <a:t>Vector DB:  ChromaDB (cosine similarity)</a:t>
            </a:r>
          </a:p>
          <a:p>
            <a:pPr>
              <a:spcBef>
                <a:spcPts val="400"/>
              </a:spcBef>
              <a:defRPr sz="1700" b="1">
                <a:solidFill>
                  <a:srgbClr val="FFFFFF"/>
                </a:solidFill>
              </a:defRPr>
            </a:pPr>
            <a:r>
              <a:t>Frontend:  Streamlit</a:t>
            </a:r>
          </a:p>
          <a:p>
            <a:pPr>
              <a:spcBef>
                <a:spcPts val="400"/>
              </a:spcBef>
              <a:defRPr sz="1700" b="1">
                <a:solidFill>
                  <a:srgbClr val="FFFFFF"/>
                </a:solidFill>
              </a:defRPr>
            </a:pPr>
            <a:r>
              <a:t>PDF Parsing:  PyPDF2 / pdfplumber</a:t>
            </a:r>
          </a:p>
          <a:p>
            <a:pPr>
              <a:spcBef>
                <a:spcPts val="400"/>
              </a:spcBef>
              <a:defRPr sz="1700" b="1">
                <a:solidFill>
                  <a:srgbClr val="FFFFFF"/>
                </a:solidFill>
              </a:defRPr>
            </a:pPr>
            <a:r>
              <a:t>DOCX:  python-docx</a:t>
            </a:r>
          </a:p>
          <a:p>
            <a:pPr>
              <a:spcBef>
                <a:spcPts val="400"/>
              </a:spcBef>
              <a:defRPr sz="1700" b="1">
                <a:solidFill>
                  <a:srgbClr val="FFFFFF"/>
                </a:solidFill>
              </a:defRPr>
            </a:pPr>
            <a:r>
              <a:t>PPTX:  python-pptx</a:t>
            </a:r>
          </a:p>
          <a:p>
            <a:pPr>
              <a:spcBef>
                <a:spcPts val="400"/>
              </a:spcBef>
              <a:defRPr sz="1700" b="1">
                <a:solidFill>
                  <a:srgbClr val="FFFFFF"/>
                </a:solidFill>
              </a:defRPr>
            </a:pPr>
            <a:r>
              <a:t>Language:  Python 3.11</a:t>
            </a:r>
          </a:p>
          <a:p>
            <a:pPr>
              <a:spcBef>
                <a:spcPts val="400"/>
              </a:spcBef>
              <a:defRPr sz="1700" b="1">
                <a:solidFill>
                  <a:srgbClr val="FFFFFF"/>
                </a:solidFill>
              </a:defRPr>
            </a:pPr>
            <a:r>
              <a:t>Agent Pattern:  AntiGravity orchestration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896"/>
                </a:solidFill>
              </a:defRPr>
            </a:pPr>
            <a:r>
              <a:t>Agent Orchestration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800" b="0">
                <a:solidFill>
                  <a:srgbClr val="FFFFFF"/>
                </a:solidFill>
              </a:defRPr>
            </a:pPr>
            <a:r>
              <a:t>1. User submits query via Streamlit chat</a:t>
            </a:r>
          </a:p>
          <a:p>
            <a:pPr>
              <a:spcBef>
                <a:spcPts val="400"/>
              </a:spcBef>
              <a:defRPr sz="1800" b="0">
                <a:solidFill>
                  <a:srgbClr val="FFFFFF"/>
                </a:solidFill>
              </a:defRPr>
            </a:pPr>
            <a:r>
              <a:t>2. Coordinator Agent classifies intent (JSON)</a:t>
            </a:r>
          </a:p>
          <a:p>
            <a:pPr>
              <a:spcBef>
                <a:spcPts val="400"/>
              </a:spcBef>
              <a:defRPr sz="1800" b="0">
                <a:solidFill>
                  <a:srgbClr val="FFFFFF"/>
                </a:solidFill>
              </a:defRPr>
            </a:pPr>
            <a:r>
              <a:t>3. Coordinator retrieves relevant document chunks via RAG</a:t>
            </a:r>
          </a:p>
          <a:p>
            <a:pPr>
              <a:spcBef>
                <a:spcPts val="400"/>
              </a:spcBef>
              <a:defRPr sz="1800" b="0">
                <a:solidFill>
                  <a:srgbClr val="FFFFFF"/>
                </a:solidFill>
              </a:defRPr>
            </a:pPr>
            <a:r>
              <a:t>4. Query + document context passed to specialized agent</a:t>
            </a:r>
          </a:p>
          <a:p>
            <a:pPr>
              <a:spcBef>
                <a:spcPts val="400"/>
              </a:spcBef>
              <a:defRPr sz="1800" b="0">
                <a:solidFill>
                  <a:srgbClr val="FFFFFF"/>
                </a:solidFill>
              </a:defRPr>
            </a:pPr>
            <a:r>
              <a:t>5. Agent generates response grounded in documents</a:t>
            </a:r>
          </a:p>
          <a:p>
            <a:pPr>
              <a:spcBef>
                <a:spcPts val="400"/>
              </a:spcBef>
              <a:defRPr sz="1800" b="0">
                <a:solidFill>
                  <a:srgbClr val="FFFFFF"/>
                </a:solidFill>
              </a:defRPr>
            </a:pPr>
            <a:r>
              <a:t>6. Coordinator merges response + source citations</a:t>
            </a:r>
          </a:p>
          <a:p>
            <a:pPr>
              <a:spcBef>
                <a:spcPts val="400"/>
              </a:spcBef>
              <a:defRPr sz="1800" b="0">
                <a:solidFill>
                  <a:srgbClr val="FFFFFF"/>
                </a:solidFill>
              </a:defRPr>
            </a:pPr>
            <a:r>
              <a:t>7. Streamlit displays formatted response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896"/>
                </a:solidFill>
              </a:defRPr>
            </a:pPr>
            <a:r>
              <a:t>Security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700" b="0">
                <a:solidFill>
                  <a:srgbClr val="FFFFFF"/>
                </a:solidFill>
              </a:defRPr>
            </a:pPr>
            <a:r>
              <a:t>  Prompt injection detection (pattern matching)</a:t>
            </a:r>
          </a:p>
          <a:p>
            <a:pPr>
              <a:spcBef>
                <a:spcPts val="400"/>
              </a:spcBef>
              <a:defRPr sz="1700" b="0">
                <a:solidFill>
                  <a:srgbClr val="FFFFFF"/>
                </a:solidFill>
              </a:defRPr>
            </a:pPr>
            <a:r>
              <a:t>  Input sanitization (HTML/script removal)</a:t>
            </a:r>
          </a:p>
          <a:p>
            <a:pPr>
              <a:spcBef>
                <a:spcPts val="400"/>
              </a:spcBef>
              <a:defRPr sz="1700" b="0">
                <a:solidFill>
                  <a:srgbClr val="FFFFFF"/>
                </a:solidFill>
              </a:defRPr>
            </a:pPr>
            <a:r>
              <a:t>  Max input length enforcement (5000 chars)</a:t>
            </a:r>
          </a:p>
          <a:p>
            <a:pPr>
              <a:spcBef>
                <a:spcPts val="400"/>
              </a:spcBef>
              <a:defRPr sz="1700" b="0">
                <a:solidFill>
                  <a:srgbClr val="FFFFFF"/>
                </a:solidFill>
              </a:defRPr>
            </a:pPr>
            <a:r>
              <a:t>  File type validation (PDF/DOCX/PPTX only)</a:t>
            </a:r>
          </a:p>
          <a:p>
            <a:pPr>
              <a:spcBef>
                <a:spcPts val="400"/>
              </a:spcBef>
              <a:defRPr sz="1700" b="0">
                <a:solidFill>
                  <a:srgbClr val="FFFFFF"/>
                </a:solidFill>
              </a:defRPr>
            </a:pPr>
            <a:r>
              <a:t>  Max upload size limit (50MB per file)</a:t>
            </a:r>
          </a:p>
          <a:p>
            <a:pPr>
              <a:spcBef>
                <a:spcPts val="400"/>
              </a:spcBef>
              <a:defRPr sz="1700" b="0">
                <a:solidFill>
                  <a:srgbClr val="FFFFFF"/>
                </a:solidFill>
              </a:defRPr>
            </a:pPr>
            <a:r>
              <a:t>  API key stored in .env (not exposed in UI)</a:t>
            </a:r>
          </a:p>
          <a:p>
            <a:pPr>
              <a:spcBef>
                <a:spcPts val="400"/>
              </a:spcBef>
              <a:defRPr sz="1700" b="0">
                <a:solidFill>
                  <a:srgbClr val="FFFFFF"/>
                </a:solidFill>
              </a:defRPr>
            </a:pPr>
            <a:r>
              <a:t>  Policy agent only answers from uploaded docs</a:t>
            </a:r>
          </a:p>
          <a:p>
            <a:pPr>
              <a:spcBef>
                <a:spcPts val="400"/>
              </a:spcBef>
              <a:defRPr sz="1700" b="0">
                <a:solidFill>
                  <a:srgbClr val="FFFFFF"/>
                </a:solidFill>
              </a:defRPr>
            </a:pPr>
            <a:r>
              <a:t>  No hallucinated university policies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896"/>
                </a:solidFill>
              </a:defRPr>
            </a:pPr>
            <a:r>
              <a:t>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AI_Course_Mentor/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  app.py              - Streamlit entry point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  config/             - Settings, prompts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  agents/             - 8 agent implementations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  rag/                - ChromaDB + embeddings + retriever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  llm/                - Groq provider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  utils/              - Security, formatters, doc processor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  data/               - Uploaded documents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  vector_db/          - ChromaDB persistence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  tests/              - Unit tests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C896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AI Course Mentor - LPU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DCFF"/>
                </a:solidFill>
              </a:defRPr>
            </a:pPr>
            <a:r>
              <a:t>Agentic AI | RAG | ChromaDB | Groq | Streamlit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
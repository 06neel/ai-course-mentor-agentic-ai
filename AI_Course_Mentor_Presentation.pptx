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0">
                <a:solidFill>
                  <a:srgbClr val="FFFFFF"/>
                </a:solidFill>
              </a:defRPr>
            </a:pPr>
            <a:r>
              <a:t>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9456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AI Course Mentor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566160"/>
            <a:ext cx="301752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BD5E1"/>
                </a:solidFill>
              </a:defRPr>
            </a:pPr>
            <a:r>
              <a:t>Intelligent Academic Assistant for LPU Faculty &amp; 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2FF"/>
                </a:solidFill>
              </a:defRPr>
            </a:pPr>
            <a:r>
              <a:t>Agentic AI  •  Multi-Agent Orchestration  •  RAG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94A3B8"/>
                </a:solidFill>
              </a:defRPr>
            </a:pPr>
            <a:r>
              <a:t>Lovely Professional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</a:defRPr>
            </a:pPr>
            <a:r>
              <a:t>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📋  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36576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5720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0"/>
            <a:ext cx="4572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</a:defRPr>
            </a:pPr>
            <a:r>
              <a:t>Project Overview &amp; Problem Statement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21408"/>
            <a:ext cx="45720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121408"/>
            <a:ext cx="4572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</a:defRPr>
            </a:pPr>
            <a:r>
              <a:t>System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79776"/>
            <a:ext cx="45720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779776"/>
            <a:ext cx="4572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</a:defRPr>
            </a:pPr>
            <a:r>
              <a:t>Tech Stack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38144"/>
            <a:ext cx="45720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438144"/>
            <a:ext cx="4572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</a:defRPr>
            </a:pPr>
            <a:r>
              <a:t>Multi-Agent System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96512"/>
            <a:ext cx="45720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096512"/>
            <a:ext cx="4572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</a:defRPr>
            </a:pPr>
            <a:r>
              <a:t>Agent Details — Coordinator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754879"/>
            <a:ext cx="45720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754879"/>
            <a:ext cx="4572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</a:defRPr>
            </a:pPr>
            <a:r>
              <a:t>Agent Details — Specialized Agents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413248"/>
            <a:ext cx="45720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413248"/>
            <a:ext cx="4572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</a:defRPr>
            </a:pPr>
            <a:r>
              <a:t>RAG Pipeline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463040"/>
            <a:ext cx="457200" cy="4114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1463040"/>
            <a:ext cx="4572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</a:defRPr>
            </a:pPr>
            <a:r>
              <a:t>Document Processing Pipeline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121408"/>
            <a:ext cx="457200" cy="4114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2121408"/>
            <a:ext cx="4572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</a:defRPr>
            </a:pPr>
            <a:r>
              <a:t>Vector Store &amp; Retrieval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779776"/>
            <a:ext cx="457200" cy="4114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2779776"/>
            <a:ext cx="4572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</a:defRPr>
            </a:pPr>
            <a:r>
              <a:t>LLM Integration (Groq)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438144"/>
            <a:ext cx="457200" cy="4114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3438144"/>
            <a:ext cx="4572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</a:defRPr>
            </a:pPr>
            <a:r>
              <a:t>Security &amp; Input Validation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096512"/>
            <a:ext cx="457200" cy="4114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4096512"/>
            <a:ext cx="4572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</a:defRPr>
            </a:pPr>
            <a:r>
              <a:t>Frontend — Streamlit UI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754879"/>
            <a:ext cx="457200" cy="4114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4754879"/>
            <a:ext cx="4572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</a:defRPr>
            </a:pPr>
            <a:r>
              <a:t>Project Structure &amp; Code Walkthrough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5413248"/>
            <a:ext cx="457200" cy="4114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5413248"/>
            <a:ext cx="4572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</a:defRPr>
            </a:pPr>
            <a:r>
              <a:t>Key Features &amp; Use Cases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6071616"/>
            <a:ext cx="457200" cy="4114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6071616"/>
            <a:ext cx="4572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</a:defRPr>
            </a:pPr>
            <a:r>
              <a:t>Future Scope &amp; Conclusion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</a:defRPr>
            </a:pPr>
            <a:r>
              <a:t>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01  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2377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EF4444"/>
                </a:solidFill>
              </a:defRPr>
            </a:pPr>
            <a:r>
              <a:t>❓ Problem Statement</a:t>
            </a:r>
          </a:p>
          <a:p>
            <a:pPr>
              <a:spcAft>
                <a:spcPts val="400"/>
              </a:spcAft>
              <a:defRPr sz="1500">
                <a:solidFill>
                  <a:srgbClr val="CBD5E1"/>
                </a:solidFill>
              </a:defRPr>
            </a:pPr>
            <a:r>
              <a:t>▸ Students struggle to get instant, course-specific answers</a:t>
            </a:r>
          </a:p>
          <a:p>
            <a:pPr>
              <a:spcAft>
                <a:spcPts val="400"/>
              </a:spcAft>
              <a:defRPr sz="1500">
                <a:solidFill>
                  <a:srgbClr val="CBD5E1"/>
                </a:solidFill>
              </a:defRPr>
            </a:pPr>
            <a:r>
              <a:t>▸ Faculty spend hours creating quizzes, assignments, lesson plans</a:t>
            </a:r>
          </a:p>
          <a:p>
            <a:pPr>
              <a:spcAft>
                <a:spcPts val="400"/>
              </a:spcAft>
              <a:defRPr sz="1500">
                <a:solidFill>
                  <a:srgbClr val="CBD5E1"/>
                </a:solidFill>
              </a:defRPr>
            </a:pPr>
            <a:r>
              <a:t>▸ University policy documents are hard to search manually</a:t>
            </a:r>
          </a:p>
          <a:p>
            <a:pPr>
              <a:spcAft>
                <a:spcPts val="400"/>
              </a:spcAft>
              <a:defRPr sz="1500">
                <a:solidFill>
                  <a:srgbClr val="CBD5E1"/>
                </a:solidFill>
              </a:defRPr>
            </a:pPr>
            <a:r>
              <a:t>▸ Generic chatbots lack domain-specific course context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63040"/>
            <a:ext cx="5029200" cy="2377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💡 Our Solution</a:t>
            </a:r>
          </a:p>
          <a:p>
            <a:pPr>
              <a:spcAft>
                <a:spcPts val="400"/>
              </a:spcAft>
              <a:defRPr sz="1500">
                <a:solidFill>
                  <a:srgbClr val="CBD5E1"/>
                </a:solidFill>
              </a:defRPr>
            </a:pPr>
            <a:r>
              <a:t>▸ Agentic AI system with 8 specialized agents</a:t>
            </a:r>
          </a:p>
          <a:p>
            <a:pPr>
              <a:spcAft>
                <a:spcPts val="400"/>
              </a:spcAft>
              <a:defRPr sz="1500">
                <a:solidFill>
                  <a:srgbClr val="CBD5E1"/>
                </a:solidFill>
              </a:defRPr>
            </a:pPr>
            <a:r>
              <a:t>▸ RAG pipeline for document-grounded answers</a:t>
            </a:r>
          </a:p>
          <a:p>
            <a:pPr>
              <a:spcAft>
                <a:spcPts val="400"/>
              </a:spcAft>
              <a:defRPr sz="1500">
                <a:solidFill>
                  <a:srgbClr val="CBD5E1"/>
                </a:solidFill>
              </a:defRPr>
            </a:pPr>
            <a:r>
              <a:t>▸ Auto quiz, assignment &amp; summary generation</a:t>
            </a:r>
          </a:p>
          <a:p>
            <a:pPr>
              <a:spcAft>
                <a:spcPts val="400"/>
              </a:spcAft>
              <a:defRPr sz="1500">
                <a:solidFill>
                  <a:srgbClr val="CBD5E1"/>
                </a:solidFill>
              </a:defRPr>
            </a:pPr>
            <a:r>
              <a:t>▸ Policy search from uploaded official documents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06240"/>
            <a:ext cx="2560320" cy="1280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0D2FF"/>
                </a:solidFill>
              </a:defRPr>
            </a:pPr>
            <a:r>
              <a:t>8</a:t>
            </a:r>
          </a:p>
          <a:p>
            <a:pPr algn="ctr">
              <a:defRPr sz="1400">
                <a:solidFill>
                  <a:srgbClr val="CBD5E1"/>
                </a:solidFill>
              </a:defRPr>
            </a:pPr>
            <a:r>
              <a:t>AI Agents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4206240"/>
            <a:ext cx="2560320" cy="1280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7C3AED"/>
                </a:solidFill>
              </a:defRPr>
            </a:pPr>
            <a:r>
              <a:t>3</a:t>
            </a:r>
          </a:p>
          <a:p>
            <a:pPr algn="ctr">
              <a:defRPr sz="1400">
                <a:solidFill>
                  <a:srgbClr val="CBD5E1"/>
                </a:solidFill>
              </a:defRPr>
            </a:pPr>
            <a:r>
              <a:t>File Formats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206240"/>
            <a:ext cx="2560320" cy="1280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10B981"/>
                </a:solidFill>
              </a:defRPr>
            </a:pPr>
            <a:r>
              <a:t>70B</a:t>
            </a:r>
          </a:p>
          <a:p>
            <a:pPr algn="ctr">
              <a:defRPr sz="1400">
                <a:solidFill>
                  <a:srgbClr val="CBD5E1"/>
                </a:solidFill>
              </a:defRPr>
            </a:pPr>
            <a:r>
              <a:t>LLM Params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4206240"/>
            <a:ext cx="2560320" cy="1280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59E0B"/>
                </a:solidFill>
              </a:defRPr>
            </a:pPr>
            <a:r>
              <a:t>&lt; 3s</a:t>
            </a:r>
          </a:p>
          <a:p>
            <a:pPr algn="ctr">
              <a:defRPr sz="1400">
                <a:solidFill>
                  <a:srgbClr val="CBD5E1"/>
                </a:solidFill>
              </a:defRPr>
            </a:pPr>
            <a:r>
              <a:t>Response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🎯 Objective: Build an intelligent, context-aware academic assistant that uses multi-agent AI orchestration and RAG to serve LPU faculty and students.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</a:defRPr>
            </a:pPr>
            <a:r>
              <a:t>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02 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937760" y="1463040"/>
            <a:ext cx="2286000" cy="73152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👤 User 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21945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00D2FF"/>
                </a:solidFill>
              </a:defRPr>
            </a:pPr>
            <a:r>
              <a:t>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2468880"/>
            <a:ext cx="3749039" cy="731520"/>
          </a:xfrm>
          <a:prstGeom prst="roundRect">
            <a:avLst/>
          </a:prstGeom>
          <a:solidFill>
            <a:srgbClr val="22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🖥️  Streamlit UI  +  Security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32004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7C3AED"/>
                </a:solidFill>
              </a:defRPr>
            </a:pPr>
            <a:r>
              <a:t>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3474720"/>
            <a:ext cx="4114800" cy="8229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🧠 Coordinator Agent</a:t>
            </a:r>
          </a:p>
          <a:p>
            <a:pPr algn="ctr">
              <a:defRPr sz="1200">
                <a:solidFill>
                  <a:srgbClr val="DDDDFF"/>
                </a:solidFill>
              </a:defRPr>
            </a:pPr>
            <a:r>
              <a:t>Intent Classification  →  Agent Routing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42976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10B981"/>
                </a:solidFill>
              </a:defRPr>
            </a:pPr>
            <a: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663440"/>
            <a:ext cx="1463040" cy="914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📖</a:t>
            </a:r>
            <a:br/>
            <a:r>
              <a:t>Mentor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03120" y="4663440"/>
            <a:ext cx="1463040" cy="914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❓</a:t>
            </a:r>
            <a:br/>
            <a:r>
              <a:t>Quiz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40" y="4663440"/>
            <a:ext cx="1463040" cy="914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196F3"/>
                </a:solidFill>
              </a:defRPr>
            </a:pPr>
            <a:r>
              <a:t>📝</a:t>
            </a:r>
            <a:br/>
            <a:r>
              <a:t>Assignment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4960" y="4663440"/>
            <a:ext cx="1463040" cy="914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7C3AED"/>
                </a:solidFill>
              </a:defRPr>
            </a:pPr>
            <a:r>
              <a:t>📋</a:t>
            </a:r>
            <a:br/>
            <a:r>
              <a:t>Summary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4663440"/>
            <a:ext cx="1463040" cy="914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F4444"/>
                </a:solidFill>
              </a:defRPr>
            </a:pPr>
            <a:r>
              <a:t>📜</a:t>
            </a:r>
            <a:br/>
            <a:r>
              <a:t>Policy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4663440"/>
            <a:ext cx="1463040" cy="914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BCD4"/>
                </a:solidFill>
              </a:defRPr>
            </a:pPr>
            <a:r>
              <a:t>👨‍🏫</a:t>
            </a:r>
            <a:br/>
            <a:r>
              <a:t>Faculty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32720" y="4663440"/>
            <a:ext cx="1463040" cy="914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795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795548"/>
                </a:solidFill>
              </a:defRPr>
            </a:pPr>
            <a:r>
              <a:t>🔍</a:t>
            </a:r>
            <a:br/>
            <a:r>
              <a:t>RAG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60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⬆️  Each agent calls: Groq LLM (Llama 3.3 70B)  +  ChromaDB/FAISS Vector Store (RAG context)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</a:defRPr>
            </a:pPr>
            <a:r>
              <a:t>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03  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65176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0D2FF"/>
                </a:solidFill>
              </a:defRPr>
            </a:pPr>
            <a:r>
              <a:t>🤖 LLM Engine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FFFFFF"/>
                </a:solidFill>
              </a:rPr>
              <a:t>Model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Llama 3.3 70B Versatile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FFFFFF"/>
                </a:solidFill>
              </a:rPr>
              <a:t>Provider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Groq Cloud API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FFFFFF"/>
                </a:solidFill>
              </a:rPr>
              <a:t>Temperature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0.3 (configurable)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FFFFFF"/>
                </a:solidFill>
              </a:rPr>
              <a:t>Max Tokens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4096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463040"/>
            <a:ext cx="265176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7C3AED"/>
                </a:solidFill>
              </a:defRPr>
            </a:pPr>
            <a:r>
              <a:t>🔍 RAG Pipeline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FFFFFF"/>
                </a:solidFill>
              </a:rPr>
              <a:t>Vector DB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ChromaDB (persistent)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FFFFFF"/>
                </a:solidFill>
              </a:rPr>
              <a:t>Embeddings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all-MiniLM-L6-v2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FFFFFF"/>
                </a:solidFill>
              </a:rPr>
              <a:t>Chunk Size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500 words / 50 overlap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FFFFFF"/>
                </a:solidFill>
              </a:rPr>
              <a:t>Retrieval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Top-5 cosine similarity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265176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0B981"/>
                </a:solidFill>
              </a:defRPr>
            </a:pPr>
            <a:r>
              <a:t>📄 Document Processing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FFFFFF"/>
                </a:solidFill>
              </a:rPr>
              <a:t>PDF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PyPDF2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FFFFFF"/>
                </a:solidFill>
              </a:rPr>
              <a:t>DOCX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python-docx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FFFFFF"/>
                </a:solidFill>
              </a:rPr>
              <a:t>PPTX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python-pptx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FFFFFF"/>
                </a:solidFill>
              </a:rPr>
              <a:t>Max Upload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50 MB per 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1463040"/>
            <a:ext cx="265176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59E0B"/>
                </a:solidFill>
              </a:defRPr>
            </a:pPr>
            <a:r>
              <a:t>🖥️ Frontend &amp; Utils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FFFFFF"/>
                </a:solidFill>
              </a:rPr>
              <a:t>UI Framework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Streamlit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FFFFFF"/>
                </a:solidFill>
              </a:rPr>
              <a:t>Validation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Pydantic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FFFFFF"/>
                </a:solidFill>
              </a:rPr>
              <a:t>Security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Regex-based injection guard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FFFFFF"/>
                </a:solidFill>
              </a:rPr>
              <a:t>Deployment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Docker / Docker Compose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</a:defRPr>
            </a:pPr>
            <a:r>
              <a:t>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04  Multi-Agent System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</a:defRPr>
            </a:pPr>
            <a:r>
              <a:t>The system follows the Coordinator-Worker pattern. A central Coordinator Agent receives all user queries, classifies intent using an LLM call, then delegates work to the appropriate specialized agent.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468880"/>
            <a:ext cx="50800" cy="8686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</a:defRPr>
            </a:pPr>
            <a:r>
              <a:t>🏗️ BaseAgent (ABC)</a:t>
            </a:r>
          </a:p>
          <a:p>
            <a:pPr>
              <a:spcBef>
                <a:spcPts val="200"/>
              </a:spcBef>
              <a:defRPr sz="1300">
                <a:solidFill>
                  <a:srgbClr val="CBD5E1"/>
                </a:solidFill>
              </a:defRPr>
            </a:pPr>
            <a:r>
              <a:t>Abstract base class providing LLM access via GroqProvider. All agents inherit from this and implement the run() method.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520440"/>
            <a:ext cx="50800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</a:defRPr>
            </a:pPr>
            <a:r>
              <a:t>🧠 CoordinatorAgent</a:t>
            </a:r>
          </a:p>
          <a:p>
            <a:pPr>
              <a:spcBef>
                <a:spcPts val="200"/>
              </a:spcBef>
              <a:defRPr sz="1300">
                <a:solidFill>
                  <a:srgbClr val="CBD5E1"/>
                </a:solidFill>
              </a:defRPr>
            </a:pPr>
            <a:r>
              <a:t>Classifies intent into 8 categories (concept, quiz, assignment, summary, policy, faculty, document_search, general) and routes to the correct worker agent.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572000"/>
            <a:ext cx="5080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🔗 Agent Registration</a:t>
            </a:r>
          </a:p>
          <a:p>
            <a:pPr>
              <a:spcBef>
                <a:spcPts val="200"/>
              </a:spcBef>
              <a:defRPr sz="1300">
                <a:solidFill>
                  <a:srgbClr val="CBD5E1"/>
                </a:solidFill>
              </a:defRPr>
            </a:pPr>
            <a:r>
              <a:t>Agents are registered dynamically: coordinator.register_agent('name', AgentInstance). This enables plug-and-play extensibility.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623559"/>
            <a:ext cx="50800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623559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📚 Context Injection</a:t>
            </a:r>
          </a:p>
          <a:p>
            <a:pPr>
              <a:spcBef>
                <a:spcPts val="200"/>
              </a:spcBef>
              <a:defRPr sz="1300">
                <a:solidFill>
                  <a:srgbClr val="CBD5E1"/>
                </a:solidFill>
              </a:defRPr>
            </a:pPr>
            <a:r>
              <a:t>Every agent receives RAG-retrieved document context. If documents are available, agents use them as primary knowledge source.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</a:defRPr>
            </a:pPr>
            <a:r>
              <a:t>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05  Coordinator Agent — Deep Dive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286000" cy="685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D2FF"/>
                </a:solidFill>
              </a:defRPr>
            </a:pPr>
            <a:r>
              <a:t>1️⃣ Receive 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371600"/>
            <a:ext cx="8229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</a:defRPr>
            </a:pPr>
            <a:r>
              <a:t>User input arrives via Streamlit chat_input()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2286000" cy="685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7C3AED"/>
                </a:solidFill>
              </a:defRPr>
            </a:pPr>
            <a:r>
              <a:t>2️⃣ Retrieve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240280"/>
            <a:ext cx="8229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</a:defRPr>
            </a:pPr>
            <a:r>
              <a:t>Retriever checks FAISS/ChromaDB for relevant document chunks (top-5)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2286000" cy="685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3️⃣ Classify Intent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108960"/>
            <a:ext cx="8229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</a:defRPr>
            </a:pPr>
            <a:r>
              <a:t>LLM call with temperature=0.1 classifies into 8 intent categories. Returns JSON: {intent, topic, confidence}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77639"/>
            <a:ext cx="2286000" cy="685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4️⃣ Route to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977639"/>
            <a:ext cx="8229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</a:defRPr>
            </a:pPr>
            <a:r>
              <a:t>agent_map maps intent → agent name (e.g., quiz_generation → quiz). If manual selection, bypasses classification.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846320"/>
            <a:ext cx="2286000" cy="685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5️⃣ Execute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846320"/>
            <a:ext cx="8229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</a:defRPr>
            </a:pPr>
            <a:r>
              <a:t>Selected agent's run() is called with query + document context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15000"/>
            <a:ext cx="2286000" cy="685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D2FF"/>
                </a:solidFill>
              </a:defRPr>
            </a:pPr>
            <a:r>
              <a:t>6️⃣ Append Citations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5715000"/>
            <a:ext cx="8229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</a:defRPr>
            </a:pPr>
            <a:r>
              <a:t>Retriever citations are appended to the final 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Intent Map: concept→mentor  |  quiz_generation→quiz  |  assignment→assignment  |  summary→summary  |  policy_query→policy  |  faculty_task→faculty  |  document_search→rag  |  general→mentor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</a:defRPr>
            </a:pPr>
            <a:r>
              <a:t>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06  Specialized Agents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274320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10B981"/>
                </a:solidFill>
              </a:defRPr>
            </a:pPr>
            <a:r>
              <a:t>📖 Course Mentor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Explains concepts with examples, analogies, code.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Uses course material as primary source.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Temp: 0.3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📁 mentor_agent.py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463040"/>
            <a:ext cx="274320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F59E0B"/>
                </a:solidFill>
              </a:defRPr>
            </a:pPr>
            <a:r>
              <a:t>❓ Quiz Generator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MCQ, True/False, Fill-in-blanks, Scenario,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Bloom's Taxonomy, CO-based questions.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Difficulty: Easy/Apply/Hard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📁 quiz_agent.py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274320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2196F3"/>
                </a:solidFill>
              </a:defRPr>
            </a:pPr>
            <a:r>
              <a:t>📝 Assignment Gen.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Theory, Lab, Coding, Viva, Mini-Project.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Includes rubrics &amp; marking schemes.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Reference to course material.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📁 assignment_agent.py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1463040"/>
            <a:ext cx="274320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7C3AED"/>
                </a:solidFill>
              </a:defRPr>
            </a:pPr>
            <a:r>
              <a:t>📋 Summarizer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Chapter summary, Revision notes, Flashcards,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Key points, One-page notes.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Temp: 0.3 for accuracy.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📁 summary_agent.py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114800"/>
            <a:ext cx="274320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EF4444"/>
                </a:solidFill>
              </a:defRPr>
            </a:pPr>
            <a:r>
              <a:t>📜 Policy Agent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Answers ONLY from uploaded policy documents.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Strict citation: [Source: X, Page Y].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Never fabricates policy info.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📁 policy_agent.py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4114800"/>
            <a:ext cx="274320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00BCD4"/>
                </a:solidFill>
              </a:defRPr>
            </a:pPr>
            <a:r>
              <a:t>👨‍🏫 Faculty Asst.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Lesson plans, Question papers, MCQ sets,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Lab manuals, CO-PO mapping,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Feedback forms.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📁 faculty_agent.py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274320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795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795548"/>
                </a:solidFill>
              </a:defRPr>
            </a:pPr>
            <a:r>
              <a:t>🔍 RAG Agent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Direct document search with relevance scores.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Cites sources with page numbers.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Confidence levels: High/Med/Low.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📁 rag_agent.py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</a:defRPr>
            </a:pPr>
            <a:r>
              <a:t>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07  RAG Pipeline — Retrieval-Augmented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645920"/>
            <a:ext cx="1737360" cy="2011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D2FF"/>
                </a:solidFill>
              </a:defRPr>
            </a:pPr>
            <a:r>
              <a:t>📄 Document</a:t>
            </a:r>
            <a:br/>
            <a:r>
              <a:t>Ingestion</a:t>
            </a:r>
          </a:p>
          <a:p>
            <a:pPr algn="ctr">
              <a:defRPr sz="1100">
                <a:solidFill>
                  <a:srgbClr val="CBD5E1"/>
                </a:solidFill>
              </a:defRPr>
            </a:pPr>
            <a:r>
              <a:t>Upload PDF/DOCX/PPTX</a:t>
            </a:r>
          </a:p>
          <a:p>
            <a:pPr algn="ctr">
              <a:defRPr sz="1100">
                <a:solidFill>
                  <a:srgbClr val="CBD5E1"/>
                </a:solidFill>
              </a:defRPr>
            </a:pPr>
            <a:r>
              <a:t>via Streamlit sidebar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2860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00D2FF"/>
                </a:solidFill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40280" y="1645920"/>
            <a:ext cx="1737360" cy="2011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7C3AED"/>
                </a:solidFill>
              </a:defRPr>
            </a:pPr>
            <a:r>
              <a:t>✂️ Text</a:t>
            </a:r>
            <a:br/>
            <a:r>
              <a:t>Chunking</a:t>
            </a:r>
          </a:p>
          <a:p>
            <a:pPr algn="ctr">
              <a:defRPr sz="1100">
                <a:solidFill>
                  <a:srgbClr val="CBD5E1"/>
                </a:solidFill>
              </a:defRPr>
            </a:pPr>
            <a:r>
              <a:t>500-word chunks</a:t>
            </a:r>
          </a:p>
          <a:p>
            <a:pPr algn="ctr">
              <a:defRPr sz="1100">
                <a:solidFill>
                  <a:srgbClr val="CBD5E1"/>
                </a:solidFill>
              </a:defRPr>
            </a:pPr>
            <a:r>
              <a:t>with 50-word overlap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40" y="22860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7C3AED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645920"/>
            <a:ext cx="1737360" cy="2011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🔢 Embedding</a:t>
            </a:r>
            <a:br/>
            <a:r>
              <a:t>Generation</a:t>
            </a:r>
          </a:p>
          <a:p>
            <a:pPr algn="ctr">
              <a:defRPr sz="1100">
                <a:solidFill>
                  <a:srgbClr val="CBD5E1"/>
                </a:solidFill>
              </a:defRPr>
            </a:pPr>
            <a:r>
              <a:t>all-MiniLM-L6-v2</a:t>
            </a:r>
          </a:p>
          <a:p>
            <a:pPr algn="ctr">
              <a:defRPr sz="1100">
                <a:solidFill>
                  <a:srgbClr val="CBD5E1"/>
                </a:solidFill>
              </a:defRPr>
            </a:pPr>
            <a:r>
              <a:t>384-dim vectors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2860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10B981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199" y="1645920"/>
            <a:ext cx="1737360" cy="2011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💾 Vector</a:t>
            </a:r>
            <a:br/>
            <a:r>
              <a:t>Storage</a:t>
            </a:r>
          </a:p>
          <a:p>
            <a:pPr algn="ctr">
              <a:defRPr sz="1100">
                <a:solidFill>
                  <a:srgbClr val="CBD5E1"/>
                </a:solidFill>
              </a:defRPr>
            </a:pPr>
            <a:r>
              <a:t>ChromaDB persistent</a:t>
            </a:r>
          </a:p>
          <a:p>
            <a:pPr algn="ctr">
              <a:defRPr sz="1100">
                <a:solidFill>
                  <a:srgbClr val="CBD5E1"/>
                </a:solidFill>
              </a:defRPr>
            </a:pPr>
            <a:r>
              <a:t>cosine similarity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59" y="22860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59E0B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45920"/>
            <a:ext cx="1737360" cy="2011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🔍 Semantic</a:t>
            </a:r>
            <a:br/>
            <a:r>
              <a:t>Retrieval</a:t>
            </a:r>
          </a:p>
          <a:p>
            <a:pPr algn="ctr">
              <a:defRPr sz="1100">
                <a:solidFill>
                  <a:srgbClr val="CBD5E1"/>
                </a:solidFill>
              </a:defRPr>
            </a:pPr>
            <a:r>
              <a:t>Top-5 relevant chunks</a:t>
            </a:r>
          </a:p>
          <a:p>
            <a:pPr algn="ctr">
              <a:defRPr sz="1100">
                <a:solidFill>
                  <a:srgbClr val="CBD5E1"/>
                </a:solidFill>
              </a:defRPr>
            </a:pPr>
            <a:r>
              <a:t>with relevance scores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22860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EF4444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04120" y="1645920"/>
            <a:ext cx="1737360" cy="2011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D2FF"/>
                </a:solidFill>
              </a:defRPr>
            </a:pPr>
            <a:r>
              <a:t>🧠 LLM</a:t>
            </a:r>
            <a:br/>
            <a:r>
              <a:t>Generation</a:t>
            </a:r>
          </a:p>
          <a:p>
            <a:pPr algn="ctr">
              <a:defRPr sz="1100">
                <a:solidFill>
                  <a:srgbClr val="CBD5E1"/>
                </a:solidFill>
              </a:defRPr>
            </a:pPr>
            <a:r>
              <a:t>Context + Query → </a:t>
            </a:r>
          </a:p>
          <a:p>
            <a:pPr algn="ctr">
              <a:defRPr sz="1100">
                <a:solidFill>
                  <a:srgbClr val="CBD5E1"/>
                </a:solidFill>
              </a:defRPr>
            </a:pPr>
            <a:r>
              <a:t>Llama 3.3 70B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31920"/>
            <a:ext cx="3566160" cy="2194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00D2FF"/>
                </a:solidFill>
              </a:defRPr>
            </a:pPr>
            <a:r>
              <a:t>Chunking Strategy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Word-based splitting with overlap ensures no context is lost at boundaries. Each chunk retains source filename and page number for citation.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931920"/>
            <a:ext cx="3566160" cy="2194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7C3AED"/>
                </a:solidFill>
              </a:defRPr>
            </a:pPr>
            <a:r>
              <a:t>Embedding Model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Sentence Transformers 'all-MiniLM-L6-v2' — fast, 384-dimensional embeddings. Loaded lazily to minimize startup time.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3931920"/>
            <a:ext cx="3566160" cy="2194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10B981"/>
                </a:solidFill>
              </a:defRPr>
            </a:pPr>
            <a:r>
              <a:t>Retrieval Scoring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score = 1.0 / (1.0 + distance). Cosine distance from ChromaDB is converted to a similarity score for ranking and display.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</a:defRPr>
            </a:pPr>
            <a:r>
              <a:t>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08  Document Processing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56616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EF4444"/>
                </a:solidFill>
              </a:defRPr>
            </a:pPr>
            <a:r>
              <a:t>📕 PDF Loader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PyPDF2.PdfReader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Extracts text page-by-page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Retains page numbers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356616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2196F3"/>
                </a:solidFill>
              </a:defRPr>
            </a:pPr>
            <a:r>
              <a:t>📘 DOCX Loader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python-docx.Document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Extracts all paragraphs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Joins as single 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463040"/>
            <a:ext cx="356616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📙 PPTX Loader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python-pptx.Presentation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Iterates slide shapes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Extracts text per slide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</a:defRPr>
            </a:pPr>
            <a:r>
              <a:t>Processing Flow:   Upload → Validate (type + size) → Save to data/ → Load &amp; Extract Text → Chunk (500 words) → Add to ChromaDB Vector Store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480560"/>
            <a:ext cx="53035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📦 DocumentProcessor Class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▸ validate_file() — checks extension &amp; size (≤ 50MB)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▸ process_uploaded_file() — saves, loads, chunks, indexes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▸ get_uploaded_files() — lists all indexed documents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▸ get_stats() — returns file count, chunk count, index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480560"/>
            <a:ext cx="53035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📊 DocumentChunk Dataclass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▸ text — chunk content (up to 500 words)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▸ source — original filename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▸ page — page number in source document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▸ chunk_id — sequential unique identifier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▸ metadata — dict with source + page info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</a:defRPr>
            </a:pPr>
            <a:r>
              <a:t>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09  Vector Store &amp; Semantic Retrieval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864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💾 VectorStore (Singleton Pattern)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</a:defRPr>
            </a:pPr>
            <a:r>
              <a:t>▸ Uses ChromaDB PersistentClient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</a:defRPr>
            </a:pPr>
            <a:r>
              <a:t>▸ Collection: 'course_documents'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</a:defRPr>
            </a:pPr>
            <a:r>
              <a:t>▸ Distance metric: cosine similarity (HNSW)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</a:defRPr>
            </a:pPr>
            <a:r>
              <a:t>▸ Batch indexing: 100 chunks per batch</a:t>
            </a:r>
          </a:p>
          <a:p>
            <a:pPr>
              <a:spcBef>
                <a:spcPts val="1200"/>
              </a:spcBef>
              <a:defRPr sz="1500" b="1">
                <a:solidFill>
                  <a:srgbClr val="00D2FF"/>
                </a:solidFill>
              </a:defRPr>
            </a:pPr>
            <a:r>
              <a:t>Key Methods: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▸ create_index(chunks) — recreate from scratch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▸ add_chunks(chunks) — append new chunks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▸ search(query, top_k) — semantic search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▸ reset() — delete all data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▸ Properties: total_chunks, is_loaded, file_count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4864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🔍 Retriever (High-level Search API)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</a:defRPr>
            </a:pPr>
            <a:r>
              <a:t>▸ Wraps VectorStore with RetrievalResult dataclass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</a:defRPr>
            </a:pPr>
            <a:r>
              <a:t>▸ Converts raw distance → similarity score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</a:defRPr>
            </a:pPr>
            <a:r>
              <a:t>▸ Auto-generates citations: [Source: file, Page N]</a:t>
            </a:r>
          </a:p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RetrievalResult Fields: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▸ text — retrieved chunk content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▸ source — original filename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▸ page — page number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▸ score — relevance (0.0 to 1.0)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▸ citation — formatted reference string</a:t>
            </a:r>
          </a:p>
          <a:p>
            <a:pPr>
              <a:spcBef>
                <a:spcPts val="800"/>
              </a:spcBef>
              <a:defRPr sz="1300" b="1">
                <a:solidFill>
                  <a:srgbClr val="00D2FF"/>
                </a:solidFill>
              </a:defRPr>
            </a:pPr>
            <a:r>
              <a:t>Score Formula:  score = 1.0 / (1.0 + distance)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760720"/>
            <a:ext cx="1124712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CBD5E1"/>
                </a:solidFill>
              </a:defRPr>
            </a:pPr>
            <a:r>
              <a:t>🔢 EmbeddingEngine:  Model = all-MiniLM-L6-v2  |  Dimension = 384  |  Lazy loading via @property  |  Methods: embed_documents(), embed_query()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</a:defRPr>
            </a:pPr>
            <a:r>
              <a:t>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10  LLM Integration — Groq + Llama 3.3 70B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8640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🏗️ Provider Pattern (Strategy)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</a:defRPr>
            </a:pPr>
            <a:r>
              <a:t>▸ LLMProvider — abstract base class (ABC)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</a:defRPr>
            </a:pPr>
            <a:r>
              <a:t>▸ Abstract methods: generate(), generate_with_context()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</a:defRPr>
            </a:pPr>
            <a:r>
              <a:t>▸ GroqProvider — concrete implementation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</a:defRPr>
            </a:pPr>
            <a:r>
              <a:t>▸ Uses official Groq Python SDK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</a:defRPr>
            </a:pPr>
            <a:r>
              <a:t>▸ Easily extensible: add OpenAI, Anthropic, etc.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48640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⚡ GroqProvider Methods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</a:defRPr>
            </a:pPr>
            <a:r>
              <a:t>▸ generate(prompt, system_prompt, temp, max_tokens)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  ◦ Single-turn completion with system prompt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</a:defRPr>
            </a:pPr>
            <a:r>
              <a:t>▸ generate_with_context(user_msg, context, ...)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  ◦ Injects document context into prompt template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</a:defRPr>
            </a:pPr>
            <a:r>
              <a:t>▸ chat(messages, temp, max_tokens)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</a:defRPr>
            </a:pPr>
            <a:r>
              <a:t>  ◦ Multi-turn conversation support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480560"/>
            <a:ext cx="112471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⚡ Why Groq?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</a:defRPr>
            </a:pPr>
            <a:r>
              <a:t>✅ Ultra-fast inference: ~500 tokens/sec on Llama 3.3 70B (vs ~30-50 on standard GPU hosting)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</a:defRPr>
            </a:pPr>
            <a:r>
              <a:t>✅ Free tier available: ideal for academic projects and prototyping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</a:defRPr>
            </a:pPr>
            <a:r>
              <a:t>✅ Compatible API: OpenAI-style chat completions interface — easy to swap providers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</a:defRPr>
            </a:pPr>
            <a:r>
              <a:t>✅ 70B model quality: near GPT-4 level reasoning with sub-second latency for most queries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</a:defRPr>
            </a:pPr>
            <a:r>
              <a:t>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11  Security &amp; Input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864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🚫 "ignore all previous instructions"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🚫 "you are now / act as if / pretend you are"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🚫 "system: / admin: " prefix attacks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🚫 "override / bypass / jailbreak"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🚫 "DAN mode / do anything now"</a:t>
            </a:r>
          </a:p>
          <a:p>
            <a:pPr>
              <a:spcBef>
                <a:spcPts val="1200"/>
              </a:spcBef>
              <a:defRPr sz="1500" b="1">
                <a:solidFill>
                  <a:srgbClr val="F59E0B"/>
                </a:solidFill>
              </a:defRPr>
            </a:pPr>
            <a:r>
              <a:t>Sensitive Data Detection: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⚠️ Credit card numbers (XXXX-XXXX-XXXX)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⚠️ SSN patterns (XXX-XX-XXXX)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⚠️ password=, api_key=, secret= values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4864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✅ Input Validation Pipeline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0D2FF"/>
                </a:solidFill>
              </a:rPr>
              <a:t>1. Empty Check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   Reject empty or whitespace-only inputs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0D2FF"/>
                </a:solidFill>
              </a:rPr>
              <a:t>2. Length Limit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   Max 5,000 characters per input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0D2FF"/>
                </a:solidFill>
              </a:rPr>
              <a:t>3. Injection Scan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   Regex-based pattern matching against 13 known attack vectors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0D2FF"/>
                </a:solidFill>
              </a:rPr>
              <a:t>4. Sanitization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   Strip HTML tags, remove &lt;script&gt; blocks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0D2FF"/>
                </a:solidFill>
              </a:rPr>
              <a:t>5. File Validation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   Check extension + enforce 50MB size limit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607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📁 All security logic in utils/security.py — SecurityManager class with static methods for easy reuse across the application.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</a:defRPr>
            </a:pPr>
            <a:r>
              <a:t>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12  Frontend — Streamlit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356616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00D2FF"/>
                </a:solidFill>
              </a:defRPr>
            </a:pPr>
            <a:r>
              <a:t>🖥️ Wide Layout</a:t>
            </a:r>
          </a:p>
          <a:p>
            <a:pPr>
              <a:spcAft>
                <a:spcPts val="200"/>
              </a:spcAft>
              <a:defRPr sz="1200">
                <a:solidFill>
                  <a:srgbClr val="CBD5E1"/>
                </a:solidFill>
              </a:defRPr>
            </a:pPr>
            <a:r>
              <a:t>Full-width responsive UI with expanded sidebar.</a:t>
            </a:r>
          </a:p>
          <a:p>
            <a:pPr>
              <a:spcAft>
                <a:spcPts val="200"/>
              </a:spcAft>
              <a:defRPr sz="1200">
                <a:solidFill>
                  <a:srgbClr val="CBD5E1"/>
                </a:solidFill>
              </a:defRPr>
            </a:pPr>
            <a:r>
              <a:t>Dark gradient header with university branding.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371600"/>
            <a:ext cx="356616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7C3AED"/>
                </a:solidFill>
              </a:defRPr>
            </a:pPr>
            <a:r>
              <a:t>📤 Document Upload</a:t>
            </a:r>
          </a:p>
          <a:p>
            <a:pPr>
              <a:spcAft>
                <a:spcPts val="200"/>
              </a:spcAft>
              <a:defRPr sz="1200">
                <a:solidFill>
                  <a:srgbClr val="CBD5E1"/>
                </a:solidFill>
              </a:defRPr>
            </a:pPr>
            <a:r>
              <a:t>Sidebar file uploader supporting PDF, DOCX, PPTX.</a:t>
            </a:r>
          </a:p>
          <a:p>
            <a:pPr>
              <a:spcAft>
                <a:spcPts val="200"/>
              </a:spcAft>
              <a:defRPr sz="1200">
                <a:solidFill>
                  <a:srgbClr val="CBD5E1"/>
                </a:solidFill>
              </a:defRPr>
            </a:pPr>
            <a:r>
              <a:t>Real-time chunk count and indexing status.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56616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10B981"/>
                </a:solidFill>
              </a:defRPr>
            </a:pPr>
            <a:r>
              <a:t>🤖 Agent Selector</a:t>
            </a:r>
          </a:p>
          <a:p>
            <a:pPr>
              <a:spcAft>
                <a:spcPts val="200"/>
              </a:spcAft>
              <a:defRPr sz="1200">
                <a:solidFill>
                  <a:srgbClr val="CBD5E1"/>
                </a:solidFill>
              </a:defRPr>
            </a:pPr>
            <a:r>
              <a:t>Dropdown to choose specific agent or 'Auto' mode.</a:t>
            </a:r>
          </a:p>
          <a:p>
            <a:pPr>
              <a:spcAft>
                <a:spcPts val="200"/>
              </a:spcAft>
              <a:defRPr sz="1200">
                <a:solidFill>
                  <a:srgbClr val="CBD5E1"/>
                </a:solidFill>
              </a:defRPr>
            </a:pPr>
            <a:r>
              <a:t>Color-coded agent badges on responses.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931920"/>
            <a:ext cx="356616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F59E0B"/>
                </a:solidFill>
              </a:defRPr>
            </a:pPr>
            <a:r>
              <a:t>💬 Chat Interface</a:t>
            </a:r>
          </a:p>
          <a:p>
            <a:pPr>
              <a:spcAft>
                <a:spcPts val="200"/>
              </a:spcAft>
              <a:defRPr sz="1200">
                <a:solidFill>
                  <a:srgbClr val="CBD5E1"/>
                </a:solidFill>
              </a:defRPr>
            </a:pPr>
            <a:r>
              <a:t>st.chat_input + st.chat_message for natural conversation.</a:t>
            </a:r>
          </a:p>
          <a:p>
            <a:pPr>
              <a:spcAft>
                <a:spcPts val="200"/>
              </a:spcAft>
              <a:defRPr sz="1200">
                <a:solidFill>
                  <a:srgbClr val="CBD5E1"/>
                </a:solidFill>
              </a:defRPr>
            </a:pPr>
            <a:r>
              <a:t>Message history with agent attribution.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3931920"/>
            <a:ext cx="356616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EF4444"/>
                </a:solidFill>
              </a:defRPr>
            </a:pPr>
            <a:r>
              <a:t>📊 Stats Dashboard</a:t>
            </a:r>
          </a:p>
          <a:p>
            <a:pPr>
              <a:spcAft>
                <a:spcPts val="200"/>
              </a:spcAft>
              <a:defRPr sz="1200">
                <a:solidFill>
                  <a:srgbClr val="CBD5E1"/>
                </a:solidFill>
              </a:defRPr>
            </a:pPr>
            <a:r>
              <a:t>Real-time metrics: file count, chunk count, vector status.</a:t>
            </a:r>
          </a:p>
          <a:p>
            <a:pPr>
              <a:spcAft>
                <a:spcPts val="200"/>
              </a:spcAft>
              <a:defRPr sz="1200">
                <a:solidFill>
                  <a:srgbClr val="CBD5E1"/>
                </a:solidFill>
              </a:defRPr>
            </a:pPr>
            <a:r>
              <a:t>One-click document deletion.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931920"/>
            <a:ext cx="356616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00D2FF"/>
                </a:solidFill>
              </a:defRPr>
            </a:pPr>
            <a:r>
              <a:t>📚 Source Citations</a:t>
            </a:r>
          </a:p>
          <a:p>
            <a:pPr>
              <a:spcAft>
                <a:spcPts val="200"/>
              </a:spcAft>
              <a:defRPr sz="1200">
                <a:solidFill>
                  <a:srgbClr val="CBD5E1"/>
                </a:solidFill>
              </a:defRPr>
            </a:pPr>
            <a:r>
              <a:t>Expandable citation panels on document-grounded answers.</a:t>
            </a:r>
          </a:p>
          <a:p>
            <a:pPr>
              <a:spcAft>
                <a:spcPts val="200"/>
              </a:spcAft>
              <a:defRPr sz="1200">
                <a:solidFill>
                  <a:srgbClr val="CBD5E1"/>
                </a:solidFill>
              </a:defRPr>
            </a:pPr>
            <a:r>
              <a:t>Formatted as [Source: filename, Page X].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</a:defRPr>
            </a:pPr>
            <a: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13  Project Structure &amp; Code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356616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📁 agents/</a:t>
            </a:r>
          </a:p>
          <a:p>
            <a:pPr>
              <a:spcAft>
                <a:spcPts val="200"/>
              </a:spcAft>
              <a:defRPr sz="1200">
                <a:solidFill>
                  <a:srgbClr val="CBD5E1"/>
                </a:solidFill>
              </a:defRPr>
            </a:pPr>
            <a:r>
              <a:t>8 agent files: base, coordinator, rag,</a:t>
            </a:r>
          </a:p>
          <a:p>
            <a:pPr>
              <a:spcAft>
                <a:spcPts val="200"/>
              </a:spcAft>
              <a:defRPr sz="1200">
                <a:solidFill>
                  <a:srgbClr val="CBD5E1"/>
                </a:solidFill>
              </a:defRPr>
            </a:pPr>
            <a:r>
              <a:t>mentor, quiz, assignment, summary,</a:t>
            </a:r>
          </a:p>
          <a:p>
            <a:pPr>
              <a:spcAft>
                <a:spcPts val="200"/>
              </a:spcAft>
              <a:defRPr sz="1200">
                <a:solidFill>
                  <a:srgbClr val="CBD5E1"/>
                </a:solidFill>
              </a:defRPr>
            </a:pPr>
            <a:r>
              <a:t>policy, faculty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10 files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371600"/>
            <a:ext cx="356616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7C3AED"/>
                </a:solidFill>
              </a:defRPr>
            </a:pPr>
            <a:r>
              <a:t>📁 rag/</a:t>
            </a:r>
          </a:p>
          <a:p>
            <a:pPr>
              <a:spcAft>
                <a:spcPts val="200"/>
              </a:spcAft>
              <a:defRPr sz="1200">
                <a:solidFill>
                  <a:srgbClr val="CBD5E1"/>
                </a:solidFill>
              </a:defRPr>
            </a:pPr>
            <a:r>
              <a:t>loader.py, embeddings.py,</a:t>
            </a:r>
          </a:p>
          <a:p>
            <a:pPr>
              <a:spcAft>
                <a:spcPts val="200"/>
              </a:spcAft>
              <a:defRPr sz="1200">
                <a:solidFill>
                  <a:srgbClr val="CBD5E1"/>
                </a:solidFill>
              </a:defRPr>
            </a:pPr>
            <a:r>
              <a:t>vector_store.py, retriever.py</a:t>
            </a:r>
          </a:p>
          <a:p>
            <a:pPr>
              <a:spcAft>
                <a:spcPts val="200"/>
              </a:spcAft>
              <a:defRPr sz="1200">
                <a:solidFill>
                  <a:srgbClr val="CBD5E1"/>
                </a:solidFill>
              </a:defRPr>
            </a:pPr>
            <a:r>
              <a:t>Complete RAG pipeline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5 files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56616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00D2FF"/>
                </a:solidFill>
              </a:defRPr>
            </a:pPr>
            <a:r>
              <a:t>📁 llm/</a:t>
            </a:r>
          </a:p>
          <a:p>
            <a:pPr>
              <a:spcAft>
                <a:spcPts val="200"/>
              </a:spcAft>
              <a:defRPr sz="1200">
                <a:solidFill>
                  <a:srgbClr val="CBD5E1"/>
                </a:solidFill>
              </a:defRPr>
            </a:pPr>
            <a:r>
              <a:t>provider.py (ABC interface),</a:t>
            </a:r>
          </a:p>
          <a:p>
            <a:pPr>
              <a:spcAft>
                <a:spcPts val="200"/>
              </a:spcAft>
              <a:defRPr sz="1200">
                <a:solidFill>
                  <a:srgbClr val="CBD5E1"/>
                </a:solidFill>
              </a:defRPr>
            </a:pPr>
            <a:r>
              <a:t>groq_provider.py (Groq SDK)</a:t>
            </a:r>
          </a:p>
          <a:p>
            <a:pPr>
              <a:spcAft>
                <a:spcPts val="200"/>
              </a:spcAft>
              <a:defRPr sz="1200">
                <a:solidFill>
                  <a:srgbClr val="CBD5E1"/>
                </a:solidFill>
              </a:defRPr>
            </a:pPr>
            <a:r>
              <a:t>Strategy pattern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3 files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4023360"/>
            <a:ext cx="356616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📁 config/</a:t>
            </a:r>
          </a:p>
          <a:p>
            <a:pPr>
              <a:spcAft>
                <a:spcPts val="200"/>
              </a:spcAft>
              <a:defRPr sz="1200">
                <a:solidFill>
                  <a:srgbClr val="CBD5E1"/>
                </a:solidFill>
              </a:defRPr>
            </a:pPr>
            <a:r>
              <a:t>settings.py (all config),</a:t>
            </a:r>
          </a:p>
          <a:p>
            <a:pPr>
              <a:spcAft>
                <a:spcPts val="200"/>
              </a:spcAft>
              <a:defRPr sz="1200">
                <a:solidFill>
                  <a:srgbClr val="CBD5E1"/>
                </a:solidFill>
              </a:defRPr>
            </a:pPr>
            <a:r>
              <a:t>prompts.py (6 agent prompts)</a:t>
            </a:r>
          </a:p>
          <a:p>
            <a:pPr>
              <a:spcAft>
                <a:spcPts val="200"/>
              </a:spcAft>
              <a:defRPr sz="1200">
                <a:solidFill>
                  <a:srgbClr val="CBD5E1"/>
                </a:solidFill>
              </a:defRPr>
            </a:pPr>
            <a:r>
              <a:t>Environment-driven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3 files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4023360"/>
            <a:ext cx="356616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EF4444"/>
                </a:solidFill>
              </a:defRPr>
            </a:pPr>
            <a:r>
              <a:t>📁 utils/</a:t>
            </a:r>
          </a:p>
          <a:p>
            <a:pPr>
              <a:spcAft>
                <a:spcPts val="200"/>
              </a:spcAft>
              <a:defRPr sz="1200">
                <a:solidFill>
                  <a:srgbClr val="CBD5E1"/>
                </a:solidFill>
              </a:defRPr>
            </a:pPr>
            <a:r>
              <a:t>document_processor.py,</a:t>
            </a:r>
          </a:p>
          <a:p>
            <a:pPr>
              <a:spcAft>
                <a:spcPts val="200"/>
              </a:spcAft>
              <a:defRPr sz="1200">
                <a:solidFill>
                  <a:srgbClr val="CBD5E1"/>
                </a:solidFill>
              </a:defRPr>
            </a:pPr>
            <a:r>
              <a:t>conversation_manager.py,</a:t>
            </a:r>
          </a:p>
          <a:p>
            <a:pPr>
              <a:spcAft>
                <a:spcPts val="200"/>
              </a:spcAft>
              <a:defRPr sz="1200">
                <a:solidFill>
                  <a:srgbClr val="CBD5E1"/>
                </a:solidFill>
              </a:defRPr>
            </a:pPr>
            <a:r>
              <a:t>security.py, formatters.py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5 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4023360"/>
            <a:ext cx="356616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📁 Root Files</a:t>
            </a:r>
          </a:p>
          <a:p>
            <a:pPr>
              <a:spcAft>
                <a:spcPts val="200"/>
              </a:spcAft>
              <a:defRPr sz="1200">
                <a:solidFill>
                  <a:srgbClr val="CBD5E1"/>
                </a:solidFill>
              </a:defRPr>
            </a:pPr>
            <a:r>
              <a:t>app.py (entry point),</a:t>
            </a:r>
          </a:p>
          <a:p>
            <a:pPr>
              <a:spcAft>
                <a:spcPts val="200"/>
              </a:spcAft>
              <a:defRPr sz="1200">
                <a:solidFill>
                  <a:srgbClr val="CBD5E1"/>
                </a:solidFill>
              </a:defRPr>
            </a:pPr>
            <a:r>
              <a:t>requirements.txt, Dockerfile,</a:t>
            </a:r>
          </a:p>
          <a:p>
            <a:pPr>
              <a:spcAft>
                <a:spcPts val="200"/>
              </a:spcAft>
              <a:defRPr sz="1200">
                <a:solidFill>
                  <a:srgbClr val="CBD5E1"/>
                </a:solidFill>
              </a:defRPr>
            </a:pPr>
            <a:r>
              <a:t>docker-compose.yml, .env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5 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📊 Total: ~30 source files  |  ~1,500 lines of Python  |  Modular &amp; extensible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</a:defRPr>
            </a:pPr>
            <a:r>
              <a:t>15/15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14  Key Features &amp; Sample Use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411480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Sample Query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463040"/>
            <a:ext cx="228600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Routed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463040"/>
            <a:ext cx="411480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4114800" cy="53035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3931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</a:defRPr>
            </a:pPr>
            <a:r>
              <a:t>Explain Decision Trees with examples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2011680"/>
            <a:ext cx="2286000" cy="53035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Course Mentor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2011680"/>
            <a:ext cx="4114800" cy="53035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2011680"/>
            <a:ext cx="3931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Detailed concept explanation with 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33472"/>
            <a:ext cx="4114800" cy="530352"/>
          </a:xfrm>
          <a:prstGeom prst="roundRect">
            <a:avLst/>
          </a:prstGeom>
          <a:solidFill>
            <a:srgbClr val="15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633472"/>
            <a:ext cx="3931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</a:defRPr>
            </a:pPr>
            <a:r>
              <a:t>Generate 20 MCQs on Machine Learning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2633472"/>
            <a:ext cx="2286000" cy="530352"/>
          </a:xfrm>
          <a:prstGeom prst="roundRect">
            <a:avLst/>
          </a:prstGeom>
          <a:solidFill>
            <a:srgbClr val="151F3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Quiz Generator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2633472"/>
            <a:ext cx="4114800" cy="530352"/>
          </a:xfrm>
          <a:prstGeom prst="roundRect">
            <a:avLst/>
          </a:prstGeom>
          <a:solidFill>
            <a:srgbClr val="15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2633472"/>
            <a:ext cx="3931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20 MCQs with answers + Bloom's level tags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255264"/>
            <a:ext cx="4114800" cy="53035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255264"/>
            <a:ext cx="3931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</a:defRPr>
            </a:pPr>
            <a:r>
              <a:t>Summarize Unit 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3255264"/>
            <a:ext cx="2286000" cy="53035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7C3AED"/>
                </a:solidFill>
              </a:defRPr>
            </a:pPr>
            <a:r>
              <a:t>Lecture Summarizer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3255264"/>
            <a:ext cx="4114800" cy="53035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3255264"/>
            <a:ext cx="3931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Chapter summary from uploaded material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877056"/>
            <a:ext cx="4114800" cy="530352"/>
          </a:xfrm>
          <a:prstGeom prst="roundRect">
            <a:avLst/>
          </a:prstGeom>
          <a:solidFill>
            <a:srgbClr val="15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877056"/>
            <a:ext cx="3931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</a:defRPr>
            </a:pPr>
            <a:r>
              <a:t>Create assignment on Data Preprocessing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0" y="3877056"/>
            <a:ext cx="2286000" cy="530352"/>
          </a:xfrm>
          <a:prstGeom prst="roundRect">
            <a:avLst/>
          </a:prstGeom>
          <a:solidFill>
            <a:srgbClr val="151F30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196F3"/>
                </a:solidFill>
              </a:defRPr>
            </a:pPr>
            <a:r>
              <a:t>Assignment Generator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23760" y="3877056"/>
            <a:ext cx="4114800" cy="530352"/>
          </a:xfrm>
          <a:prstGeom prst="roundRect">
            <a:avLst/>
          </a:prstGeom>
          <a:solidFill>
            <a:srgbClr val="15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0" y="3877056"/>
            <a:ext cx="3931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Theory + coding questions with rubric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498848"/>
            <a:ext cx="4114800" cy="53035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498848"/>
            <a:ext cx="3931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</a:defRPr>
            </a:pPr>
            <a:r>
              <a:t>What is the attendance policy?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0" y="4498848"/>
            <a:ext cx="2286000" cy="53035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Academic Policy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23760" y="4498848"/>
            <a:ext cx="4114800" cy="53035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0" y="4498848"/>
            <a:ext cx="3931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Policy answer with document citations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120640"/>
            <a:ext cx="4114800" cy="530352"/>
          </a:xfrm>
          <a:prstGeom prst="roundRect">
            <a:avLst/>
          </a:prstGeom>
          <a:solidFill>
            <a:srgbClr val="15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120640"/>
            <a:ext cx="3931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</a:defRPr>
            </a:pPr>
            <a:r>
              <a:t>Prepare lesson plan for DBMS Unit 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54880" y="5120640"/>
            <a:ext cx="2286000" cy="530352"/>
          </a:xfrm>
          <a:prstGeom prst="roundRect">
            <a:avLst/>
          </a:prstGeom>
          <a:solidFill>
            <a:srgbClr val="151F30"/>
          </a:solidFill>
          <a:ln w="127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BCD4"/>
                </a:solidFill>
              </a:defRPr>
            </a:pPr>
            <a:r>
              <a:t>Faculty Assistant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23760" y="5120640"/>
            <a:ext cx="4114800" cy="530352"/>
          </a:xfrm>
          <a:prstGeom prst="roundRect">
            <a:avLst/>
          </a:prstGeom>
          <a:solidFill>
            <a:srgbClr val="15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0" y="5120640"/>
            <a:ext cx="3931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Lesson plan with CO mapping + timeline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742432"/>
            <a:ext cx="4114800" cy="53035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742432"/>
            <a:ext cx="3931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</a:defRPr>
            </a:pPr>
            <a:r>
              <a:t>Search: explain normalization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54880" y="5742432"/>
            <a:ext cx="2286000" cy="53035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795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795548"/>
                </a:solidFill>
              </a:defRPr>
            </a:pPr>
            <a:r>
              <a:t>RAG Document Search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23760" y="5742432"/>
            <a:ext cx="4114800" cy="53035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0" y="5742432"/>
            <a:ext cx="3931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Retrieves exact passages with page refs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</a:defRPr>
            </a:pPr>
            <a:r>
              <a:t>16/17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15  Future Scope &amp;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8640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🚀 Future Enhancements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→ Multi-modal support: images, diagrams, handwritten notes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→ Conversation memory with LLM context window management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→ Voice input/output for accessibility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→ Multi-language support (Hindi, Punjabi, etc.)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→ Analytics dashboard for usage tracking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→ Integration with LPU LMS (UMS portal)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→ Student performance tracking &amp; personalization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→ Collaborative study rooms with shared AI assistant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48640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🎯 Conclusion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✅ Built a production-ready multi-agent AI system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✅ 8 specialized agents with automatic intent routing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✅ RAG pipeline ensures document-grounded accuracy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✅ Prompt injection protection for security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✅ Modular architecture enables easy extension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✅ Groq + Llama 3.3 70B delivers fast, high-quality inference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✅ Designed specifically for LPU academic workflows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394960"/>
            <a:ext cx="11247120" cy="1097280"/>
          </a:xfrm>
          <a:prstGeom prst="roundRect">
            <a:avLst/>
          </a:prstGeom>
          <a:solidFill>
            <a:srgbClr val="131C30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Thank You! 🎓</a:t>
            </a:r>
          </a:p>
          <a:p>
            <a:pPr algn="ctr">
              <a:defRPr sz="1600">
                <a:solidFill>
                  <a:srgbClr val="00D2FF"/>
                </a:solidFill>
              </a:defRPr>
            </a:pPr>
            <a:r>
              <a:t>AI Course Mentor — Empowering LPU Faculty &amp; Students with Agentic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</a:defRPr>
            </a:pPr>
            <a:r>
              <a:t>17/17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